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3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Payroll &amp; Vouchers</a:t>
            </a:r>
          </a:p>
          <a:p>
            <a:pPr>
              <a:defRPr sz="1800">
                <a:solidFill>
                  <a:srgbClr val="D9C58A"/>
                </a:solidFill>
              </a:defRPr>
            </a:pPr>
            <a:r>
              <a:t>Runs, statutory rules and the centralized voucher workflow</a:t>
            </a:r>
          </a:p>
          <a:p>
            <a:pPr>
              <a:defRPr sz="1200">
                <a:solidFill>
                  <a:srgbClr val="8FBCA8"/>
                </a:solidFill>
              </a:defRPr>
            </a:pPr>
            <a:r>
              <a:t>SaloneHCM · Official training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33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1C1E"/>
                </a:solidFill>
              </a:defRPr>
            </a:pPr>
            <a:r>
              <a:t>•  Gross-to-net in Sierra Leone</a:t>
            </a:r>
          </a:p>
          <a:p>
            <a:pPr>
              <a:spcAft>
                <a:spcPts val="1200"/>
              </a:spcAft>
              <a:defRPr sz="1800">
                <a:solidFill>
                  <a:srgbClr val="1A1C1E"/>
                </a:solidFill>
              </a:defRPr>
            </a:pPr>
            <a:r>
              <a:t>•  Preview → Run → Exports</a:t>
            </a:r>
          </a:p>
          <a:p>
            <a:pPr>
              <a:spcAft>
                <a:spcPts val="1200"/>
              </a:spcAft>
              <a:defRPr sz="1800">
                <a:solidFill>
                  <a:srgbClr val="1A1C1E"/>
                </a:solidFill>
              </a:defRPr>
            </a:pPr>
            <a:r>
              <a:t>•  NRA &amp; NASSIT filing</a:t>
            </a:r>
          </a:p>
          <a:p>
            <a:pPr>
              <a:spcAft>
                <a:spcPts val="1200"/>
              </a:spcAft>
              <a:defRPr sz="1800">
                <a:solidFill>
                  <a:srgbClr val="1A1C1E"/>
                </a:solidFill>
              </a:defRPr>
            </a:pPr>
            <a:r>
              <a:t>•  The voucher workflow</a:t>
            </a:r>
          </a:p>
          <a:p>
            <a:pPr>
              <a:spcAft>
                <a:spcPts val="1200"/>
              </a:spcAft>
              <a:defRPr sz="1800">
                <a:solidFill>
                  <a:srgbClr val="1A1C1E"/>
                </a:solidFill>
              </a:defRPr>
            </a:pPr>
            <a:r>
              <a:t>•  Anti-fraud rails</a:t>
            </a:r>
          </a:p>
          <a:p>
            <a:pPr>
              <a:spcAft>
                <a:spcPts val="1200"/>
              </a:spcAft>
              <a:defRPr sz="1800">
                <a:solidFill>
                  <a:srgbClr val="1A1C1E"/>
                </a:solidFill>
              </a:defRPr>
            </a:pPr>
            <a:r>
              <a:t>•  Certification quiz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33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Gross to 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1C1E"/>
                </a:solidFill>
              </a:defRPr>
            </a:pPr>
            <a:r>
              <a:t>•  Basic + allowances = gross</a:t>
            </a:r>
          </a:p>
          <a:p>
            <a:pPr>
              <a:spcAft>
                <a:spcPts val="1200"/>
              </a:spcAft>
              <a:defRPr sz="1800">
                <a:solidFill>
                  <a:srgbClr val="1A1C1E"/>
                </a:solidFill>
              </a:defRPr>
            </a:pPr>
            <a:r>
              <a:t>•  NASSIT employee 5% (employer 10%)</a:t>
            </a:r>
          </a:p>
          <a:p>
            <a:pPr>
              <a:spcAft>
                <a:spcPts val="1200"/>
              </a:spcAft>
              <a:defRPr sz="1800">
                <a:solidFill>
                  <a:srgbClr val="1A1C1E"/>
                </a:solidFill>
              </a:defRPr>
            </a:pPr>
            <a:r>
              <a:t>•  NRA PAYE on progressive monthly bands — band by band</a:t>
            </a:r>
          </a:p>
          <a:p>
            <a:pPr>
              <a:spcAft>
                <a:spcPts val="1200"/>
              </a:spcAft>
              <a:defRPr sz="1800">
                <a:solidFill>
                  <a:srgbClr val="1A1C1E"/>
                </a:solidFill>
              </a:defRPr>
            </a:pPr>
            <a:r>
              <a:t>•  Loans &amp; deductions last → net pay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33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Running payroll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1C1E"/>
                </a:solidFill>
              </a:defRPr>
            </a:pPr>
            <a:r>
              <a:t>•  ALWAYS preview first — reconcile vs last month</a:t>
            </a:r>
          </a:p>
          <a:p>
            <a:pPr>
              <a:spcAft>
                <a:spcPts val="1200"/>
              </a:spcAft>
              <a:defRPr sz="1800">
                <a:solidFill>
                  <a:srgbClr val="1A1C1E"/>
                </a:solidFill>
              </a:defRPr>
            </a:pPr>
            <a:r>
              <a:t>•  Gov: budget check must pass; cut-off lock respected</a:t>
            </a:r>
          </a:p>
          <a:p>
            <a:pPr>
              <a:spcAft>
                <a:spcPts val="1200"/>
              </a:spcAft>
              <a:defRPr sz="1800">
                <a:solidFill>
                  <a:srgbClr val="1A1C1E"/>
                </a:solidFill>
              </a:defRPr>
            </a:pPr>
            <a:r>
              <a:t>•  MoF chain signs the run (up to 5 signatures)</a:t>
            </a:r>
          </a:p>
          <a:p>
            <a:pPr>
              <a:spcAft>
                <a:spcPts val="1200"/>
              </a:spcAft>
              <a:defRPr sz="1800">
                <a:solidFill>
                  <a:srgbClr val="1A1C1E"/>
                </a:solidFill>
              </a:defRPr>
            </a:pPr>
            <a:r>
              <a:t>•  Exports: payslip PDFs · payslip SMS · Rokel/SLCB/UBA/Ecobank bank files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33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voucher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1C1E"/>
                </a:solidFill>
              </a:defRPr>
            </a:pPr>
            <a:r>
              <a:t>•  Draft → Supervisor → Submitted → Review → Approved → Payment authorized</a:t>
            </a:r>
          </a:p>
          <a:p>
            <a:pPr>
              <a:spcAft>
                <a:spcPts val="1200"/>
              </a:spcAft>
              <a:defRPr sz="1800">
                <a:solidFill>
                  <a:srgbClr val="1A1C1E"/>
                </a:solidFill>
              </a:defRPr>
            </a:pPr>
            <a:r>
              <a:t>•  Return-for-correction with a written reason (≥10 chars)</a:t>
            </a:r>
          </a:p>
          <a:p>
            <a:pPr>
              <a:spcAft>
                <a:spcPts val="1200"/>
              </a:spcAft>
              <a:defRPr sz="1800">
                <a:solidFill>
                  <a:srgbClr val="1A1C1E"/>
                </a:solidFill>
              </a:defRPr>
            </a:pPr>
            <a:r>
              <a:t>•  Revision number tracks corrections forever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33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Anti-fraud 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1C1E"/>
                </a:solidFill>
              </a:defRPr>
            </a:pPr>
            <a:r>
              <a:t>•  One voucher per branch per period</a:t>
            </a:r>
          </a:p>
          <a:p>
            <a:pPr>
              <a:spcAft>
                <a:spcPts val="1200"/>
              </a:spcAft>
              <a:defRPr sz="1800">
                <a:solidFill>
                  <a:srgbClr val="1A1C1E"/>
                </a:solidFill>
              </a:defRPr>
            </a:pPr>
            <a:r>
              <a:t>•  Double-pay guard across vouchers</a:t>
            </a:r>
          </a:p>
          <a:p>
            <a:pPr>
              <a:spcAft>
                <a:spcPts val="1200"/>
              </a:spcAft>
              <a:defRPr sz="1800">
                <a:solidFill>
                  <a:srgbClr val="1A1C1E"/>
                </a:solidFill>
              </a:defRPr>
            </a:pPr>
            <a:r>
              <a:t>•  Immutable after submission</a:t>
            </a:r>
          </a:p>
          <a:p>
            <a:pPr>
              <a:spcAft>
                <a:spcPts val="1200"/>
              </a:spcAft>
              <a:defRPr sz="1800">
                <a:solidFill>
                  <a:srgbClr val="1A1C1E"/>
                </a:solidFill>
              </a:defRPr>
            </a:pPr>
            <a:r>
              <a:t>•  Creator ≠ approver ≠ authorizer</a:t>
            </a:r>
          </a:p>
          <a:p>
            <a:pPr>
              <a:spcAft>
                <a:spcPts val="1200"/>
              </a:spcAft>
              <a:defRPr sz="1800">
                <a:solidFill>
                  <a:srgbClr val="1A1C1E"/>
                </a:solidFill>
              </a:defRPr>
            </a:pPr>
            <a:r>
              <a:t>•  Authorized vouchers are permanent records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33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1C1E"/>
                </a:solidFill>
              </a:defRPr>
            </a:pPr>
            <a:r>
              <a:t>•  Monthly NRA PAYE return export</a:t>
            </a:r>
          </a:p>
          <a:p>
            <a:pPr>
              <a:spcAft>
                <a:spcPts val="1200"/>
              </a:spcAft>
              <a:defRPr sz="1800">
                <a:solidFill>
                  <a:srgbClr val="1A1C1E"/>
                </a:solidFill>
              </a:defRPr>
            </a:pPr>
            <a:r>
              <a:t>•  NASSIT contribution schedule</a:t>
            </a:r>
          </a:p>
          <a:p>
            <a:pPr>
              <a:spcAft>
                <a:spcPts val="1200"/>
              </a:spcAft>
              <a:defRPr sz="1800">
                <a:solidFill>
                  <a:srgbClr val="1A1C1E"/>
                </a:solidFill>
              </a:defRPr>
            </a:pPr>
            <a:r>
              <a:t>•  Deadlines tracked — file before they turn red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3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Questions?</a:t>
            </a:r>
          </a:p>
          <a:p>
            <a:pPr>
              <a:defRPr sz="1600">
                <a:solidFill>
                  <a:srgbClr val="D9C58A"/>
                </a:solidFill>
              </a:defRPr>
            </a:pPr>
            <a:r>
              <a:t>Training Center → videos · articles · FAQs · certification quizzes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